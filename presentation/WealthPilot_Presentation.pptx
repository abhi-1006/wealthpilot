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41B4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41B4D"/>
          </a:solidFill>
          <a:ln/>
        </p:spPr>
      </p:sp>
      <p:sp>
        <p:nvSpPr>
          <p:cNvPr id="3" name="Shape 1"/>
          <p:cNvSpPr/>
          <p:nvPr/>
        </p:nvSpPr>
        <p:spPr>
          <a:xfrm>
            <a:off x="822960" y="822960"/>
            <a:ext cx="640080" cy="640080"/>
          </a:xfrm>
          <a:prstGeom prst="ellipse">
            <a:avLst/>
          </a:prstGeom>
          <a:solidFill>
            <a:srgbClr val="DA7756"/>
          </a:solidFill>
          <a:ln/>
        </p:spPr>
      </p:sp>
      <p:sp>
        <p:nvSpPr>
          <p:cNvPr id="4" name="Text 2"/>
          <p:cNvSpPr/>
          <p:nvPr/>
        </p:nvSpPr>
        <p:spPr>
          <a:xfrm>
            <a:off x="822960" y="82296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822960" y="2468880"/>
            <a:ext cx="105156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WealthPilot</a:t>
            </a:r>
            <a:endParaRPr lang="en-US" sz="5400" dirty="0"/>
          </a:p>
        </p:txBody>
      </p:sp>
      <p:sp>
        <p:nvSpPr>
          <p:cNvPr id="6" name="Text 4"/>
          <p:cNvSpPr/>
          <p:nvPr/>
        </p:nvSpPr>
        <p:spPr>
          <a:xfrm>
            <a:off x="822960" y="3429000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SME Loan Underwriting &amp; Credit Research Assistant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822960" y="580644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AA4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Applied AI Professional Certification Program  —  IIT Hyderabad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822960" y="617220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E77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Abhiram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10881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DA77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713232"/>
            <a:ext cx="10881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Underwriting SME loans is slow, manual, and risky to get wrong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2011680"/>
            <a:ext cx="3429000" cy="3017520"/>
          </a:xfrm>
          <a:prstGeom prst="roundRect">
            <a:avLst>
              <a:gd name="adj" fmla="val 3636"/>
            </a:avLst>
          </a:prstGeom>
          <a:solidFill>
            <a:srgbClr val="F4F6FB"/>
          </a:solidFill>
          <a:ln/>
        </p:spPr>
      </p:sp>
      <p:sp>
        <p:nvSpPr>
          <p:cNvPr id="5" name="Shape 3"/>
          <p:cNvSpPr/>
          <p:nvPr/>
        </p:nvSpPr>
        <p:spPr>
          <a:xfrm>
            <a:off x="960120" y="2331720"/>
            <a:ext cx="548640" cy="54864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6" name="Text 4"/>
          <p:cNvSpPr/>
          <p:nvPr/>
        </p:nvSpPr>
        <p:spPr>
          <a:xfrm>
            <a:off x="960120" y="233172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960120" y="3063240"/>
            <a:ext cx="2788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 review is slow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960120" y="3703320"/>
            <a:ext cx="27889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Credit-ops teams read applications and financial statements by hand, application by application.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4389120" y="2011680"/>
            <a:ext cx="3429000" cy="3017520"/>
          </a:xfrm>
          <a:prstGeom prst="roundRect">
            <a:avLst>
              <a:gd name="adj" fmla="val 3636"/>
            </a:avLst>
          </a:prstGeom>
          <a:solidFill>
            <a:srgbClr val="F4F6FB"/>
          </a:solidFill>
          <a:ln/>
        </p:spPr>
      </p:sp>
      <p:sp>
        <p:nvSpPr>
          <p:cNvPr id="10" name="Shape 8"/>
          <p:cNvSpPr/>
          <p:nvPr/>
        </p:nvSpPr>
        <p:spPr>
          <a:xfrm>
            <a:off x="4709160" y="2331720"/>
            <a:ext cx="548640" cy="54864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1" name="Text 9"/>
          <p:cNvSpPr/>
          <p:nvPr/>
        </p:nvSpPr>
        <p:spPr>
          <a:xfrm>
            <a:off x="4709160" y="233172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4709160" y="3063240"/>
            <a:ext cx="2788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Policy citations must be exact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4709160" y="3703320"/>
            <a:ext cx="27889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fabricated or misquoted policy citation isn't a UX bug here — it's a compliance failure.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8138160" y="2011680"/>
            <a:ext cx="3429000" cy="3017520"/>
          </a:xfrm>
          <a:prstGeom prst="roundRect">
            <a:avLst>
              <a:gd name="adj" fmla="val 3636"/>
            </a:avLst>
          </a:prstGeom>
          <a:solidFill>
            <a:srgbClr val="F4F6FB"/>
          </a:solidFill>
          <a:ln/>
        </p:spPr>
      </p:sp>
      <p:sp>
        <p:nvSpPr>
          <p:cNvPr id="15" name="Shape 13"/>
          <p:cNvSpPr/>
          <p:nvPr/>
        </p:nvSpPr>
        <p:spPr>
          <a:xfrm>
            <a:off x="8458200" y="2331720"/>
            <a:ext cx="548640" cy="54864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6" name="Text 14"/>
          <p:cNvSpPr/>
          <p:nvPr/>
        </p:nvSpPr>
        <p:spPr>
          <a:xfrm>
            <a:off x="8458200" y="233172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8458200" y="3063240"/>
            <a:ext cx="2788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Bias risk is real and regulated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8458200" y="3703320"/>
            <a:ext cx="27889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Similar financials with different applicant demographics must reach the same decision, provably.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640080" y="5349240"/>
            <a:ext cx="10881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WealthPilot automates the first pass — parse, verify, retrieve policy, decide — while keeping a human in the loop for every real decision.</a:t>
            </a:r>
            <a:endParaRPr lang="en-US" sz="15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10881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DA77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ARCHITECTURE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713232"/>
            <a:ext cx="10881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Eight milestones, one pipeline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2103120"/>
            <a:ext cx="1874520" cy="1371600"/>
          </a:xfrm>
          <a:prstGeom prst="roundRect">
            <a:avLst>
              <a:gd name="adj" fmla="val 6667"/>
            </a:avLst>
          </a:prstGeom>
          <a:solidFill>
            <a:srgbClr val="1E2761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2240280"/>
            <a:ext cx="1874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DA77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M1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640080" y="2560320"/>
            <a:ext cx="1874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Intake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731520" y="2971800"/>
            <a:ext cx="1691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Parse &amp; validate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2514600" y="2103120"/>
            <a:ext cx="256032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DA77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2770632" y="2103120"/>
            <a:ext cx="1874520" cy="1371600"/>
          </a:xfrm>
          <a:prstGeom prst="roundRect">
            <a:avLst>
              <a:gd name="adj" fmla="val 6667"/>
            </a:avLst>
          </a:prstGeom>
          <a:solidFill>
            <a:srgbClr val="1E2761"/>
          </a:solidFill>
          <a:ln/>
        </p:spPr>
      </p:sp>
      <p:sp>
        <p:nvSpPr>
          <p:cNvPr id="10" name="Text 8"/>
          <p:cNvSpPr/>
          <p:nvPr/>
        </p:nvSpPr>
        <p:spPr>
          <a:xfrm>
            <a:off x="2770632" y="2240280"/>
            <a:ext cx="1874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DA77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M2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2770632" y="2560320"/>
            <a:ext cx="1874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 Signals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2862072" y="2971800"/>
            <a:ext cx="1691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Tools: DSCR, bureau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4645152" y="2103120"/>
            <a:ext cx="256032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DA77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14" name="Shape 12"/>
          <p:cNvSpPr/>
          <p:nvPr/>
        </p:nvSpPr>
        <p:spPr>
          <a:xfrm>
            <a:off x="4901184" y="2103120"/>
            <a:ext cx="1874520" cy="1371600"/>
          </a:xfrm>
          <a:prstGeom prst="roundRect">
            <a:avLst>
              <a:gd name="adj" fmla="val 6667"/>
            </a:avLst>
          </a:prstGeom>
          <a:solidFill>
            <a:srgbClr val="1E2761"/>
          </a:solidFill>
          <a:ln/>
        </p:spPr>
      </p:sp>
      <p:sp>
        <p:nvSpPr>
          <p:cNvPr id="15" name="Text 13"/>
          <p:cNvSpPr/>
          <p:nvPr/>
        </p:nvSpPr>
        <p:spPr>
          <a:xfrm>
            <a:off x="4901184" y="2240280"/>
            <a:ext cx="1874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DA77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M4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4901184" y="2560320"/>
            <a:ext cx="1874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Policy RAG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4992624" y="2971800"/>
            <a:ext cx="1691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Grounded, cited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6775704" y="2103120"/>
            <a:ext cx="256032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DA77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19" name="Shape 17"/>
          <p:cNvSpPr/>
          <p:nvPr/>
        </p:nvSpPr>
        <p:spPr>
          <a:xfrm>
            <a:off x="7031736" y="2103120"/>
            <a:ext cx="1874520" cy="1371600"/>
          </a:xfrm>
          <a:prstGeom prst="roundRect">
            <a:avLst>
              <a:gd name="adj" fmla="val 6667"/>
            </a:avLst>
          </a:prstGeom>
          <a:solidFill>
            <a:srgbClr val="1E2761"/>
          </a:solidFill>
          <a:ln/>
        </p:spPr>
      </p:sp>
      <p:sp>
        <p:nvSpPr>
          <p:cNvPr id="20" name="Text 18"/>
          <p:cNvSpPr/>
          <p:nvPr/>
        </p:nvSpPr>
        <p:spPr>
          <a:xfrm>
            <a:off x="7031736" y="2240280"/>
            <a:ext cx="1874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DA77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M5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7031736" y="2560320"/>
            <a:ext cx="1874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Workflow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7123176" y="2971800"/>
            <a:ext cx="1691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Human-gated routing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8906256" y="2103120"/>
            <a:ext cx="256032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DA77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24" name="Shape 22"/>
          <p:cNvSpPr/>
          <p:nvPr/>
        </p:nvSpPr>
        <p:spPr>
          <a:xfrm>
            <a:off x="9162288" y="2103120"/>
            <a:ext cx="1874520" cy="1371600"/>
          </a:xfrm>
          <a:prstGeom prst="roundRect">
            <a:avLst>
              <a:gd name="adj" fmla="val 6667"/>
            </a:avLst>
          </a:prstGeom>
          <a:solidFill>
            <a:srgbClr val="1E2761"/>
          </a:solidFill>
          <a:ln/>
        </p:spPr>
      </p:sp>
      <p:sp>
        <p:nvSpPr>
          <p:cNvPr id="25" name="Text 23"/>
          <p:cNvSpPr/>
          <p:nvPr/>
        </p:nvSpPr>
        <p:spPr>
          <a:xfrm>
            <a:off x="9162288" y="2240280"/>
            <a:ext cx="1874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DA77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M6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9162288" y="2560320"/>
            <a:ext cx="1874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Committee</a:t>
            </a:r>
            <a:endParaRPr lang="en-US" sz="1500" dirty="0"/>
          </a:p>
        </p:txBody>
      </p:sp>
      <p:sp>
        <p:nvSpPr>
          <p:cNvPr id="27" name="Text 25"/>
          <p:cNvSpPr/>
          <p:nvPr/>
        </p:nvSpPr>
        <p:spPr>
          <a:xfrm>
            <a:off x="9253728" y="2971800"/>
            <a:ext cx="1691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Multi-agent review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640080" y="4206240"/>
            <a:ext cx="3429000" cy="1554480"/>
          </a:xfrm>
          <a:prstGeom prst="roundRect">
            <a:avLst>
              <a:gd name="adj" fmla="val 5882"/>
            </a:avLst>
          </a:prstGeom>
          <a:solidFill>
            <a:srgbClr val="F4F6FB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868680" y="4389120"/>
            <a:ext cx="2971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M3 — Persistent Memory</a:t>
            </a:r>
            <a:endParaRPr lang="en-US" sz="1350" dirty="0"/>
          </a:p>
        </p:txBody>
      </p:sp>
      <p:sp>
        <p:nvSpPr>
          <p:cNvPr id="30" name="Text 28"/>
          <p:cNvSpPr/>
          <p:nvPr/>
        </p:nvSpPr>
        <p:spPr>
          <a:xfrm>
            <a:off x="868680" y="4800600"/>
            <a:ext cx="2971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Working / episodic / semantic / procedural, via Supermemory</a:t>
            </a:r>
            <a:endParaRPr lang="en-US" sz="1150" dirty="0"/>
          </a:p>
        </p:txBody>
      </p:sp>
      <p:sp>
        <p:nvSpPr>
          <p:cNvPr id="31" name="Shape 29"/>
          <p:cNvSpPr/>
          <p:nvPr/>
        </p:nvSpPr>
        <p:spPr>
          <a:xfrm>
            <a:off x="4389120" y="4206240"/>
            <a:ext cx="3429000" cy="1554480"/>
          </a:xfrm>
          <a:prstGeom prst="roundRect">
            <a:avLst>
              <a:gd name="adj" fmla="val 5882"/>
            </a:avLst>
          </a:prstGeom>
          <a:solidFill>
            <a:srgbClr val="F4F6FB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617720" y="4389120"/>
            <a:ext cx="2971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M7 — Observability + Reliability</a:t>
            </a:r>
            <a:endParaRPr lang="en-US" sz="1350" dirty="0"/>
          </a:p>
        </p:txBody>
      </p:sp>
      <p:sp>
        <p:nvSpPr>
          <p:cNvPr id="33" name="Text 31"/>
          <p:cNvSpPr/>
          <p:nvPr/>
        </p:nvSpPr>
        <p:spPr>
          <a:xfrm>
            <a:off x="4617720" y="4800600"/>
            <a:ext cx="2971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Tracing, retries, fallback, circuit breaker</a:t>
            </a:r>
            <a:endParaRPr lang="en-US" sz="1150" dirty="0"/>
          </a:p>
        </p:txBody>
      </p:sp>
      <p:sp>
        <p:nvSpPr>
          <p:cNvPr id="34" name="Shape 32"/>
          <p:cNvSpPr/>
          <p:nvPr/>
        </p:nvSpPr>
        <p:spPr>
          <a:xfrm>
            <a:off x="8138160" y="4206240"/>
            <a:ext cx="3429000" cy="1554480"/>
          </a:xfrm>
          <a:prstGeom prst="roundRect">
            <a:avLst>
              <a:gd name="adj" fmla="val 5882"/>
            </a:avLst>
          </a:prstGeom>
          <a:solidFill>
            <a:srgbClr val="F4F6FB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8366760" y="4389120"/>
            <a:ext cx="2971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M8 — Eval + Guardrails + API</a:t>
            </a:r>
            <a:endParaRPr lang="en-US" sz="1350" dirty="0"/>
          </a:p>
        </p:txBody>
      </p:sp>
      <p:sp>
        <p:nvSpPr>
          <p:cNvPr id="36" name="Text 34"/>
          <p:cNvSpPr/>
          <p:nvPr/>
        </p:nvSpPr>
        <p:spPr>
          <a:xfrm>
            <a:off x="8366760" y="4800600"/>
            <a:ext cx="2971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Golden eval, safety layer, FastAPI deployment</a:t>
            </a:r>
            <a:endParaRPr lang="en-US" sz="1150" dirty="0"/>
          </a:p>
        </p:txBody>
      </p:sp>
      <p:sp>
        <p:nvSpPr>
          <p:cNvPr id="37" name="Text 35"/>
          <p:cNvSpPr/>
          <p:nvPr/>
        </p:nvSpPr>
        <p:spPr>
          <a:xfrm>
            <a:off x="640080" y="3950208"/>
            <a:ext cx="10881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Runs underneath and alongside every stage above</a:t>
            </a:r>
            <a:endParaRPr lang="en-US" sz="10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10881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DA77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M1 + M2 — INTAKE &amp; RISK AGENT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713232"/>
            <a:ext cx="10881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From a raw application to real risk signals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965960"/>
            <a:ext cx="5257800" cy="4114800"/>
          </a:xfrm>
          <a:prstGeom prst="roundRect">
            <a:avLst>
              <a:gd name="adj" fmla="val 2667"/>
            </a:avLst>
          </a:prstGeom>
          <a:solidFill>
            <a:srgbClr val="F4F6FB"/>
          </a:solidFill>
          <a:ln/>
        </p:spPr>
      </p:sp>
      <p:sp>
        <p:nvSpPr>
          <p:cNvPr id="5" name="Shape 3"/>
          <p:cNvSpPr/>
          <p:nvPr/>
        </p:nvSpPr>
        <p:spPr>
          <a:xfrm>
            <a:off x="914400" y="2240280"/>
            <a:ext cx="914400" cy="384048"/>
          </a:xfrm>
          <a:prstGeom prst="roundRect">
            <a:avLst>
              <a:gd name="adj" fmla="val 19048"/>
            </a:avLst>
          </a:prstGeom>
          <a:solidFill>
            <a:srgbClr val="1E2761"/>
          </a:solidFill>
          <a:ln/>
        </p:spPr>
      </p:sp>
      <p:sp>
        <p:nvSpPr>
          <p:cNvPr id="6" name="Text 4"/>
          <p:cNvSpPr/>
          <p:nvPr/>
        </p:nvSpPr>
        <p:spPr>
          <a:xfrm>
            <a:off x="914400" y="2240280"/>
            <a:ext cx="914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M1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914400" y="2743200"/>
            <a:ext cx="4709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Structured Intake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914400" y="3337560"/>
            <a:ext cx="470916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222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Provider-agnostic LLM client (LiteLLM) — swap providers in one line</a:t>
            </a:r>
            <a:endParaRPr lang="en-US" sz="13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222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Raw record → validated Pydantic LoanApplication / FinancialSnapshot</a:t>
            </a:r>
            <a:endParaRPr lang="en-US" sz="13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222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Repair loop retries on malformed output instead of failing outright</a:t>
            </a:r>
            <a:endParaRPr lang="en-US" sz="13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222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Scored against each record's ground_truth for real accuracy, not just “did it validate”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914400" y="5349240"/>
            <a:ext cx="4709160" cy="54864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15875">
            <a:solidFill>
              <a:srgbClr val="DA775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051560" y="5349240"/>
            <a:ext cx="4434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DA77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10/10 records parsed successfully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6217920" y="1965960"/>
            <a:ext cx="5257800" cy="4114800"/>
          </a:xfrm>
          <a:prstGeom prst="roundRect">
            <a:avLst>
              <a:gd name="adj" fmla="val 2667"/>
            </a:avLst>
          </a:prstGeom>
          <a:solidFill>
            <a:srgbClr val="F4F6FB"/>
          </a:solidFill>
          <a:ln/>
        </p:spPr>
      </p:sp>
      <p:sp>
        <p:nvSpPr>
          <p:cNvPr id="12" name="Shape 10"/>
          <p:cNvSpPr/>
          <p:nvPr/>
        </p:nvSpPr>
        <p:spPr>
          <a:xfrm>
            <a:off x="6492240" y="2240280"/>
            <a:ext cx="914400" cy="384048"/>
          </a:xfrm>
          <a:prstGeom prst="roundRect">
            <a:avLst>
              <a:gd name="adj" fmla="val 19048"/>
            </a:avLst>
          </a:prstGeom>
          <a:solidFill>
            <a:srgbClr val="1E2761"/>
          </a:solidFill>
          <a:ln/>
        </p:spPr>
      </p:sp>
      <p:sp>
        <p:nvSpPr>
          <p:cNvPr id="13" name="Text 11"/>
          <p:cNvSpPr/>
          <p:nvPr/>
        </p:nvSpPr>
        <p:spPr>
          <a:xfrm>
            <a:off x="6492240" y="2240280"/>
            <a:ext cx="914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M2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6492240" y="2743200"/>
            <a:ext cx="4709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Tool-Enabled Agent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6492240" y="3337560"/>
            <a:ext cx="470916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222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Bounded tool-calling loop: DSCR calculator, interest calculator</a:t>
            </a:r>
            <a:endParaRPr lang="en-US" sz="13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222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Credit-bureau and bank-statement lookups as real callable tools</a:t>
            </a:r>
            <a:endParaRPr lang="en-US" sz="13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222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model chooses which tool to call and when — not a hardcoded script</a:t>
            </a:r>
            <a:endParaRPr lang="en-US" sz="13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222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Verified against a known eval case: computed DSCR matched by hand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6492240" y="5349240"/>
            <a:ext cx="4709160" cy="54864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15875">
            <a:solidFill>
              <a:srgbClr val="DA7756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629400" y="5349240"/>
            <a:ext cx="4434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DA77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DSCR, bureau &amp; bank data — all real tool calls</a:t>
            </a:r>
            <a:endParaRPr lang="en-US" sz="12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10881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DA77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M3 + M4 — MEMORY &amp; GROUNDED RETRIEVAL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713232"/>
            <a:ext cx="10881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Remembering context, answering only from real policy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965960"/>
            <a:ext cx="5257800" cy="4114800"/>
          </a:xfrm>
          <a:prstGeom prst="roundRect">
            <a:avLst>
              <a:gd name="adj" fmla="val 2667"/>
            </a:avLst>
          </a:prstGeom>
          <a:solidFill>
            <a:srgbClr val="F4F6FB"/>
          </a:solidFill>
          <a:ln/>
        </p:spPr>
      </p:sp>
      <p:sp>
        <p:nvSpPr>
          <p:cNvPr id="5" name="Shape 3"/>
          <p:cNvSpPr/>
          <p:nvPr/>
        </p:nvSpPr>
        <p:spPr>
          <a:xfrm>
            <a:off x="914400" y="2240280"/>
            <a:ext cx="914400" cy="384048"/>
          </a:xfrm>
          <a:prstGeom prst="roundRect">
            <a:avLst>
              <a:gd name="adj" fmla="val 19048"/>
            </a:avLst>
          </a:prstGeom>
          <a:solidFill>
            <a:srgbClr val="1E2761"/>
          </a:solidFill>
          <a:ln/>
        </p:spPr>
      </p:sp>
      <p:sp>
        <p:nvSpPr>
          <p:cNvPr id="6" name="Text 4"/>
          <p:cNvSpPr/>
          <p:nvPr/>
        </p:nvSpPr>
        <p:spPr>
          <a:xfrm>
            <a:off x="914400" y="2240280"/>
            <a:ext cx="914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M3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914400" y="2743200"/>
            <a:ext cx="4709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Persistent Memory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914400" y="3337560"/>
            <a:ext cx="470916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222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Four memory kinds: working, episodic, semantic, procedural</a:t>
            </a:r>
            <a:endParaRPr lang="en-US" sz="13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222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Backed by Supermemory — a real hosted memory store, not a mock</a:t>
            </a:r>
            <a:endParaRPr lang="en-US" sz="13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222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Long conversations get compressed — lossy, so it's tested, not assumed</a:t>
            </a:r>
            <a:endParaRPr lang="en-US" sz="13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222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Confirmed: a planted fact survives summarization, every run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914400" y="5349240"/>
            <a:ext cx="4709160" cy="54864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15875">
            <a:solidFill>
              <a:srgbClr val="DA775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051560" y="5349240"/>
            <a:ext cx="4434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DA77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Supermemory recall, semantic search verified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6217920" y="1965960"/>
            <a:ext cx="5257800" cy="4114800"/>
          </a:xfrm>
          <a:prstGeom prst="roundRect">
            <a:avLst>
              <a:gd name="adj" fmla="val 2667"/>
            </a:avLst>
          </a:prstGeom>
          <a:solidFill>
            <a:srgbClr val="F4F6FB"/>
          </a:solidFill>
          <a:ln/>
        </p:spPr>
      </p:sp>
      <p:sp>
        <p:nvSpPr>
          <p:cNvPr id="12" name="Shape 10"/>
          <p:cNvSpPr/>
          <p:nvPr/>
        </p:nvSpPr>
        <p:spPr>
          <a:xfrm>
            <a:off x="6492240" y="2240280"/>
            <a:ext cx="914400" cy="384048"/>
          </a:xfrm>
          <a:prstGeom prst="roundRect">
            <a:avLst>
              <a:gd name="adj" fmla="val 19048"/>
            </a:avLst>
          </a:prstGeom>
          <a:solidFill>
            <a:srgbClr val="1E2761"/>
          </a:solidFill>
          <a:ln/>
        </p:spPr>
      </p:sp>
      <p:sp>
        <p:nvSpPr>
          <p:cNvPr id="13" name="Text 11"/>
          <p:cNvSpPr/>
          <p:nvPr/>
        </p:nvSpPr>
        <p:spPr>
          <a:xfrm>
            <a:off x="6492240" y="2240280"/>
            <a:ext cx="914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M4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6492240" y="2743200"/>
            <a:ext cx="4709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Production RAG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6492240" y="3337560"/>
            <a:ext cx="470916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222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 embeddings + BM25, fused with Reciprocal Rank Fusion</a:t>
            </a:r>
            <a:endParaRPr lang="en-US" sz="13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222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Cross-encoder reranking before the model ever sees a chunk</a:t>
            </a:r>
            <a:endParaRPr lang="en-US" sz="13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222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answer cites its source — fabricated policy = compliance failure here</a:t>
            </a:r>
            <a:endParaRPr lang="en-US" sz="13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222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Prompt-injection defense: retrieved content is treated as untrusted data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6492240" y="5349240"/>
            <a:ext cx="4709160" cy="54864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15875">
            <a:solidFill>
              <a:srgbClr val="DA7756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629400" y="5349240"/>
            <a:ext cx="4434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DA77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Hybrid search + reranking, cited answers</a:t>
            </a:r>
            <a:endParaRPr lang="en-US" sz="12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10881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DA77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M5 — ORCHESTRATION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713232"/>
            <a:ext cx="10881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real human-in-the-loop gate, not a simulated one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822960" y="1965960"/>
            <a:ext cx="1737360" cy="1005840"/>
          </a:xfrm>
          <a:prstGeom prst="roundRect">
            <a:avLst>
              <a:gd name="adj" fmla="val 9091"/>
            </a:avLst>
          </a:prstGeom>
          <a:solidFill>
            <a:srgbClr val="1E2761"/>
          </a:solidFill>
          <a:ln/>
        </p:spPr>
      </p:sp>
      <p:sp>
        <p:nvSpPr>
          <p:cNvPr id="5" name="Text 3"/>
          <p:cNvSpPr/>
          <p:nvPr/>
        </p:nvSpPr>
        <p:spPr>
          <a:xfrm>
            <a:off x="822960" y="1965960"/>
            <a:ext cx="17373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intake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2560320" y="1965960"/>
            <a:ext cx="5029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3063240" y="1965960"/>
            <a:ext cx="1737360" cy="1005840"/>
          </a:xfrm>
          <a:prstGeom prst="roundRect">
            <a:avLst>
              <a:gd name="adj" fmla="val 9091"/>
            </a:avLst>
          </a:prstGeom>
          <a:solidFill>
            <a:srgbClr val="1E2761"/>
          </a:solidFill>
          <a:ln/>
        </p:spPr>
      </p:sp>
      <p:sp>
        <p:nvSpPr>
          <p:cNvPr id="8" name="Text 6"/>
          <p:cNvSpPr/>
          <p:nvPr/>
        </p:nvSpPr>
        <p:spPr>
          <a:xfrm>
            <a:off x="3063240" y="1965960"/>
            <a:ext cx="17373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verify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4800600" y="1965960"/>
            <a:ext cx="5029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5303520" y="1965960"/>
            <a:ext cx="1737360" cy="1005840"/>
          </a:xfrm>
          <a:prstGeom prst="roundRect">
            <a:avLst>
              <a:gd name="adj" fmla="val 9091"/>
            </a:avLst>
          </a:prstGeom>
          <a:solidFill>
            <a:srgbClr val="1E2761"/>
          </a:solidFill>
          <a:ln/>
        </p:spPr>
      </p:sp>
      <p:sp>
        <p:nvSpPr>
          <p:cNvPr id="11" name="Text 9"/>
          <p:cNvSpPr/>
          <p:nvPr/>
        </p:nvSpPr>
        <p:spPr>
          <a:xfrm>
            <a:off x="5303520" y="1965960"/>
            <a:ext cx="17373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scoring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7040880" y="1965960"/>
            <a:ext cx="5029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7543800" y="1965960"/>
            <a:ext cx="1737360" cy="1005840"/>
          </a:xfrm>
          <a:prstGeom prst="roundRect">
            <a:avLst>
              <a:gd name="adj" fmla="val 9091"/>
            </a:avLst>
          </a:prstGeom>
          <a:solidFill>
            <a:srgbClr val="DA7756"/>
          </a:solidFill>
          <a:ln/>
        </p:spPr>
      </p:sp>
      <p:sp>
        <p:nvSpPr>
          <p:cNvPr id="14" name="Text 12"/>
          <p:cNvSpPr/>
          <p:nvPr/>
        </p:nvSpPr>
        <p:spPr>
          <a:xfrm>
            <a:off x="7543800" y="1965960"/>
            <a:ext cx="17373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human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approval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6537960" y="306324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DA77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interrupt() pauses here — real pause, real resume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822960" y="3657600"/>
            <a:ext cx="1033272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1000"/>
              </a:spcAft>
              <a:buSzPct val="100000"/>
              <a:buChar char="•"/>
            </a:pPr>
            <a:r>
              <a:rPr lang="en-US" sz="1450" dirty="0">
                <a:solidFill>
                  <a:srgbClr val="222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Typed state with a control/audit field split — not a single overloaded dict</a:t>
            </a:r>
            <a:endParaRPr lang="en-US" sz="1450" dirty="0"/>
          </a:p>
          <a:p>
            <a:pPr marL="203200" indent="-203200">
              <a:spcAft>
                <a:spcPts val="1000"/>
              </a:spcAft>
              <a:buSzPct val="100000"/>
              <a:buChar char="•"/>
            </a:pPr>
            <a:r>
              <a:rPr lang="en-US" sz="1450" dirty="0">
                <a:solidFill>
                  <a:srgbClr val="222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real interrupt() call pauses the graph and waits — not a node that just labels a decision</a:t>
            </a:r>
            <a:endParaRPr lang="en-US" sz="1450" dirty="0"/>
          </a:p>
          <a:p>
            <a:pPr marL="203200" indent="-203200">
              <a:spcAft>
                <a:spcPts val="1000"/>
              </a:spcAft>
              <a:buSzPct val="100000"/>
              <a:buChar char="•"/>
            </a:pPr>
            <a:r>
              <a:rPr lang="en-US" sz="1450" dirty="0">
                <a:solidFill>
                  <a:srgbClr val="222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durable SqliteSaver checkpoint — verified surviving an actual process restart, not just an in-memory demo</a:t>
            </a:r>
            <a:endParaRPr lang="en-US" sz="1450" dirty="0"/>
          </a:p>
          <a:p>
            <a:pPr marL="203200" indent="-203200">
              <a:spcAft>
                <a:spcPts val="1000"/>
              </a:spcAft>
              <a:buSzPct val="100000"/>
              <a:buChar char="•"/>
            </a:pPr>
            <a:r>
              <a:rPr lang="en-US" sz="1450" dirty="0">
                <a:solidFill>
                  <a:srgbClr val="222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Bounded revision loop + escalation path — no unguarded loops</a:t>
            </a:r>
            <a:endParaRPr lang="en-US" sz="14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10881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DA77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M6 — MULTI-AGENT COMMITTEE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713232"/>
            <a:ext cx="10881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Analyst produces, two independent critics decide if it ships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2514600" y="3063240"/>
            <a:ext cx="1188720" cy="100584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5" name="Text 3"/>
          <p:cNvSpPr/>
          <p:nvPr/>
        </p:nvSpPr>
        <p:spPr>
          <a:xfrm>
            <a:off x="2514600" y="3063240"/>
            <a:ext cx="11887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Supervisor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3108960" y="3566160"/>
            <a:ext cx="0" cy="-1828800"/>
          </a:xfrm>
          <a:prstGeom prst="line">
            <a:avLst/>
          </a:prstGeom>
          <a:noFill/>
          <a:ln w="25400">
            <a:solidFill>
              <a:srgbClr val="CADCFC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606040" y="1280160"/>
            <a:ext cx="1005840" cy="914400"/>
          </a:xfrm>
          <a:prstGeom prst="ellipse">
            <a:avLst/>
          </a:prstGeom>
          <a:solidFill>
            <a:srgbClr val="DA7756"/>
          </a:solidFill>
          <a:ln/>
        </p:spPr>
      </p:sp>
      <p:sp>
        <p:nvSpPr>
          <p:cNvPr id="8" name="Text 6"/>
          <p:cNvSpPr/>
          <p:nvPr/>
        </p:nvSpPr>
        <p:spPr>
          <a:xfrm>
            <a:off x="2606040" y="1280160"/>
            <a:ext cx="1005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Analyst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108960" y="3566160"/>
            <a:ext cx="-1737360" cy="1188720"/>
          </a:xfrm>
          <a:prstGeom prst="line">
            <a:avLst/>
          </a:prstGeom>
          <a:noFill/>
          <a:ln w="25400">
            <a:solidFill>
              <a:srgbClr val="CADCFC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868680" y="4297680"/>
            <a:ext cx="1005840" cy="914400"/>
          </a:xfrm>
          <a:prstGeom prst="ellipse">
            <a:avLst/>
          </a:prstGeom>
          <a:solidFill>
            <a:srgbClr val="DA7756"/>
          </a:solidFill>
          <a:ln/>
        </p:spPr>
      </p:sp>
      <p:sp>
        <p:nvSpPr>
          <p:cNvPr id="11" name="Text 9"/>
          <p:cNvSpPr/>
          <p:nvPr/>
        </p:nvSpPr>
        <p:spPr>
          <a:xfrm>
            <a:off x="868680" y="4297680"/>
            <a:ext cx="1005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Reviewer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3108960" y="3566160"/>
            <a:ext cx="1737360" cy="1188720"/>
          </a:xfrm>
          <a:prstGeom prst="line">
            <a:avLst/>
          </a:prstGeom>
          <a:noFill/>
          <a:ln w="25400">
            <a:solidFill>
              <a:srgbClr val="CADCFC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343400" y="4297680"/>
            <a:ext cx="1005840" cy="914400"/>
          </a:xfrm>
          <a:prstGeom prst="ellipse">
            <a:avLst/>
          </a:prstGeom>
          <a:solidFill>
            <a:srgbClr val="DA7756"/>
          </a:solidFill>
          <a:ln/>
        </p:spPr>
      </p:sp>
      <p:sp>
        <p:nvSpPr>
          <p:cNvPr id="14" name="Text 12"/>
          <p:cNvSpPr/>
          <p:nvPr/>
        </p:nvSpPr>
        <p:spPr>
          <a:xfrm>
            <a:off x="4343400" y="4297680"/>
            <a:ext cx="1005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Compliance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Reviewer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6309360" y="2103120"/>
            <a:ext cx="5212080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1200"/>
              </a:spcAft>
              <a:buSzPct val="100000"/>
              <a:buChar char="•"/>
            </a:pPr>
            <a:r>
              <a:rPr lang="en-US" sz="1400" dirty="0">
                <a:solidFill>
                  <a:srgbClr val="222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Enforced per-agent write scopes — a critic can't edit the memo it's checking</a:t>
            </a:r>
            <a:endParaRPr lang="en-US" sz="1400" dirty="0"/>
          </a:p>
          <a:p>
            <a:pPr marL="203200" indent="-203200">
              <a:spcAft>
                <a:spcPts val="1200"/>
              </a:spcAft>
              <a:buSzPct val="100000"/>
              <a:buChar char="•"/>
            </a:pPr>
            <a:r>
              <a:rPr lang="en-US" sz="1400" dirty="0">
                <a:solidFill>
                  <a:srgbClr val="222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Supervisor routes as a pure function, constrained to a legal_routes() guard</a:t>
            </a:r>
            <a:endParaRPr lang="en-US" sz="1400" dirty="0"/>
          </a:p>
          <a:p>
            <a:pPr marL="203200" indent="-203200">
              <a:spcAft>
                <a:spcPts val="1200"/>
              </a:spcAft>
              <a:buSzPct val="100000"/>
              <a:buChar char="•"/>
            </a:pPr>
            <a:r>
              <a:rPr lang="en-US" sz="1400" dirty="0">
                <a:solidFill>
                  <a:srgbClr val="222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Bounded revision loop + escalation — same discipline as M5</a:t>
            </a:r>
            <a:endParaRPr lang="en-US" sz="1400" dirty="0"/>
          </a:p>
          <a:p>
            <a:pPr marL="203200" indent="-203200">
              <a:spcAft>
                <a:spcPts val="1200"/>
              </a:spcAft>
              <a:buSzPct val="100000"/>
              <a:buChar char="•"/>
            </a:pPr>
            <a:r>
              <a:rPr lang="en-US" sz="1400" dirty="0">
                <a:solidFill>
                  <a:srgbClr val="222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Bureau/bank data served over a real MCP server, not a bare function call</a:t>
            </a:r>
            <a:endParaRPr lang="en-US" sz="14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10881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DA77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M7 + M8 — RELIABILITY, EVAL &amp; GUARDRAILS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713232"/>
            <a:ext cx="10881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Hardening the pipeline, then proving it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965960"/>
            <a:ext cx="3566160" cy="1965960"/>
          </a:xfrm>
          <a:prstGeom prst="roundRect">
            <a:avLst>
              <a:gd name="adj" fmla="val 5581"/>
            </a:avLst>
          </a:prstGeom>
          <a:solidFill>
            <a:srgbClr val="1E2761"/>
          </a:solidFill>
          <a:ln/>
        </p:spPr>
      </p:sp>
      <p:sp>
        <p:nvSpPr>
          <p:cNvPr id="5" name="Text 3"/>
          <p:cNvSpPr/>
          <p:nvPr/>
        </p:nvSpPr>
        <p:spPr>
          <a:xfrm>
            <a:off x="822960" y="2194560"/>
            <a:ext cx="3200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DA77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45%  →  100%</a:t>
            </a:r>
            <a:endParaRPr lang="en-US" sz="3200" dirty="0"/>
          </a:p>
        </p:txBody>
      </p:sp>
      <p:sp>
        <p:nvSpPr>
          <p:cNvPr id="6" name="Text 4"/>
          <p:cNvSpPr/>
          <p:nvPr/>
        </p:nvSpPr>
        <p:spPr>
          <a:xfrm>
            <a:off x="822960" y="3063240"/>
            <a:ext cx="3200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Bureau-lookup success rate, before vs. after retry + fallback hardening (seeded fault injection)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4434840" y="1965960"/>
            <a:ext cx="3566160" cy="1965960"/>
          </a:xfrm>
          <a:prstGeom prst="roundRect">
            <a:avLst>
              <a:gd name="adj" fmla="val 5581"/>
            </a:avLst>
          </a:prstGeom>
          <a:solidFill>
            <a:srgbClr val="F4F6FB"/>
          </a:solidFill>
          <a:ln/>
        </p:spPr>
      </p:sp>
      <p:sp>
        <p:nvSpPr>
          <p:cNvPr id="8" name="Text 6"/>
          <p:cNvSpPr/>
          <p:nvPr/>
        </p:nvSpPr>
        <p:spPr>
          <a:xfrm>
            <a:off x="4617720" y="2148840"/>
            <a:ext cx="3200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4400" dirty="0"/>
          </a:p>
        </p:txBody>
      </p:sp>
      <p:sp>
        <p:nvSpPr>
          <p:cNvPr id="9" name="Text 7"/>
          <p:cNvSpPr/>
          <p:nvPr/>
        </p:nvSpPr>
        <p:spPr>
          <a:xfrm>
            <a:off x="4617720" y="3063240"/>
            <a:ext cx="3200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failures the circuit breaker allowed before short-circuiting the rest — never hammered a dead dependency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8229600" y="1965960"/>
            <a:ext cx="3291840" cy="1965960"/>
          </a:xfrm>
          <a:prstGeom prst="roundRect">
            <a:avLst>
              <a:gd name="adj" fmla="val 5581"/>
            </a:avLst>
          </a:prstGeom>
          <a:solidFill>
            <a:srgbClr val="F4F6FB"/>
          </a:solidFill>
          <a:ln/>
        </p:spPr>
      </p:sp>
      <p:sp>
        <p:nvSpPr>
          <p:cNvPr id="11" name="Text 9"/>
          <p:cNvSpPr/>
          <p:nvPr/>
        </p:nvSpPr>
        <p:spPr>
          <a:xfrm>
            <a:off x="8412480" y="2148840"/>
            <a:ext cx="2926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</a:t>
            </a:r>
            <a:endParaRPr lang="en-US" sz="4400" dirty="0"/>
          </a:p>
        </p:txBody>
      </p:sp>
      <p:sp>
        <p:nvSpPr>
          <p:cNvPr id="12" name="Text 10"/>
          <p:cNvSpPr/>
          <p:nvPr/>
        </p:nvSpPr>
        <p:spPr>
          <a:xfrm>
            <a:off x="8412480" y="3063240"/>
            <a:ext cx="2926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golden eval items — deterministic checks + an LLM judge, scored honestly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640080" y="4343400"/>
            <a:ext cx="1088136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900"/>
              </a:spcAft>
              <a:buSzPct val="100000"/>
              <a:buChar char="•"/>
            </a:pPr>
            <a:r>
              <a:rPr lang="en-US" sz="1350" dirty="0">
                <a:solidFill>
                  <a:srgbClr val="222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Observability: every node traced, tagged by run, with a real per-agent cost/latency dashboard</a:t>
            </a:r>
            <a:endParaRPr lang="en-US" sz="1350" dirty="0"/>
          </a:p>
          <a:p>
            <a:pPr marL="203200" indent="-203200">
              <a:spcAft>
                <a:spcPts val="900"/>
              </a:spcAft>
              <a:buSzPct val="100000"/>
              <a:buChar char="•"/>
            </a:pPr>
            <a:r>
              <a:rPr lang="en-US" sz="1350" dirty="0">
                <a:solidFill>
                  <a:srgbClr val="222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Guardrails run independent of answer quality — schema validation, prompt-injection detection, protected-attribute scan</a:t>
            </a:r>
            <a:endParaRPr lang="en-US" sz="1350" dirty="0"/>
          </a:p>
          <a:p>
            <a:pPr marL="203200" indent="-203200">
              <a:spcAft>
                <a:spcPts val="900"/>
              </a:spcAft>
              <a:buSzPct val="100000"/>
              <a:buChar char="•"/>
            </a:pPr>
            <a:r>
              <a:rPr lang="en-US" sz="1350" dirty="0">
                <a:solidFill>
                  <a:srgbClr val="222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18/20 golden-set items passed guardrails clean; an injection attempt against the live API correctly returns HTTP 422</a:t>
            </a:r>
            <a:endParaRPr lang="en-US" sz="1350" dirty="0"/>
          </a:p>
          <a:p>
            <a:pPr marL="203200" indent="-203200">
              <a:spcAft>
                <a:spcPts val="900"/>
              </a:spcAft>
              <a:buSzPct val="100000"/>
              <a:buChar char="•"/>
            </a:pPr>
            <a:r>
              <a:rPr lang="en-US" sz="1350" dirty="0">
                <a:solidFill>
                  <a:srgbClr val="222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FastAPI /health + /decision deployment package, verified with a real HTTP round-trip</a:t>
            </a:r>
            <a:endParaRPr lang="en-US" sz="13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10881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DA77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713232"/>
            <a:ext cx="10881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actually worked — and what didn't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2011680"/>
            <a:ext cx="2377440" cy="566928"/>
          </a:xfrm>
          <a:prstGeom prst="roundRect">
            <a:avLst>
              <a:gd name="adj" fmla="val 12903"/>
            </a:avLst>
          </a:prstGeom>
          <a:solidFill>
            <a:srgbClr val="1E2761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2011680"/>
            <a:ext cx="2377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M1 Intake</a:t>
            </a:r>
            <a:endParaRPr lang="en-US" sz="1250" dirty="0"/>
          </a:p>
        </p:txBody>
      </p:sp>
      <p:sp>
        <p:nvSpPr>
          <p:cNvPr id="6" name="Text 4"/>
          <p:cNvSpPr/>
          <p:nvPr/>
        </p:nvSpPr>
        <p:spPr>
          <a:xfrm>
            <a:off x="3200400" y="2011680"/>
            <a:ext cx="8321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22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10/10 records parsed; missing-field accuracy checked against ground truth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640080" y="2688336"/>
            <a:ext cx="2377440" cy="566928"/>
          </a:xfrm>
          <a:prstGeom prst="roundRect">
            <a:avLst>
              <a:gd name="adj" fmla="val 12903"/>
            </a:avLst>
          </a:prstGeom>
          <a:solidFill>
            <a:srgbClr val="1E2761"/>
          </a:solidFill>
          <a:ln/>
        </p:spPr>
      </p:sp>
      <p:sp>
        <p:nvSpPr>
          <p:cNvPr id="8" name="Text 6"/>
          <p:cNvSpPr/>
          <p:nvPr/>
        </p:nvSpPr>
        <p:spPr>
          <a:xfrm>
            <a:off x="640080" y="2688336"/>
            <a:ext cx="2377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M4 RAG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3200400" y="2688336"/>
            <a:ext cx="8321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22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Grounded, cited answers; hybrid search + reranking measurably beats naive retrieval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640080" y="3364992"/>
            <a:ext cx="2377440" cy="566928"/>
          </a:xfrm>
          <a:prstGeom prst="roundRect">
            <a:avLst>
              <a:gd name="adj" fmla="val 12903"/>
            </a:avLst>
          </a:prstGeom>
          <a:solidFill>
            <a:srgbClr val="1E2761"/>
          </a:solidFill>
          <a:ln/>
        </p:spPr>
      </p:sp>
      <p:sp>
        <p:nvSpPr>
          <p:cNvPr id="11" name="Text 9"/>
          <p:cNvSpPr/>
          <p:nvPr/>
        </p:nvSpPr>
        <p:spPr>
          <a:xfrm>
            <a:off x="640080" y="3364992"/>
            <a:ext cx="2377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M5 Workflow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3200400" y="3364992"/>
            <a:ext cx="8321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22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interrupt → process restart → resume, verified, not simulated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640080" y="4041648"/>
            <a:ext cx="2377440" cy="566928"/>
          </a:xfrm>
          <a:prstGeom prst="roundRect">
            <a:avLst>
              <a:gd name="adj" fmla="val 12903"/>
            </a:avLst>
          </a:prstGeom>
          <a:solidFill>
            <a:srgbClr val="1E2761"/>
          </a:solidFill>
          <a:ln/>
        </p:spPr>
      </p:sp>
      <p:sp>
        <p:nvSpPr>
          <p:cNvPr id="14" name="Text 12"/>
          <p:cNvSpPr/>
          <p:nvPr/>
        </p:nvSpPr>
        <p:spPr>
          <a:xfrm>
            <a:off x="640080" y="4041648"/>
            <a:ext cx="2377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M7 Reliability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3200400" y="4041648"/>
            <a:ext cx="8321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22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Bureau lookup: 45% → 100% success under seeded fault injection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640080" y="4718304"/>
            <a:ext cx="2377440" cy="566928"/>
          </a:xfrm>
          <a:prstGeom prst="roundRect">
            <a:avLst>
              <a:gd name="adj" fmla="val 12903"/>
            </a:avLst>
          </a:prstGeom>
          <a:solidFill>
            <a:srgbClr val="1E2761"/>
          </a:solidFill>
          <a:ln/>
        </p:spPr>
      </p:sp>
      <p:sp>
        <p:nvSpPr>
          <p:cNvPr id="17" name="Text 15"/>
          <p:cNvSpPr/>
          <p:nvPr/>
        </p:nvSpPr>
        <p:spPr>
          <a:xfrm>
            <a:off x="640080" y="4718304"/>
            <a:ext cx="2377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M8 Eval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3200400" y="4718304"/>
            <a:ext cx="8321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22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7/20 golden-set items passed end-to-end; 18/20 guardrails clean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640080" y="5532120"/>
            <a:ext cx="10881360" cy="1234440"/>
          </a:xfrm>
          <a:prstGeom prst="roundRect">
            <a:avLst>
              <a:gd name="adj" fmla="val 7407"/>
            </a:avLst>
          </a:prstGeom>
          <a:solidFill>
            <a:srgbClr val="F4F6FB"/>
          </a:solidFill>
          <a:ln w="12700">
            <a:solidFill>
              <a:srgbClr val="DA7756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914400" y="566928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A77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Honest limitation: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914400" y="5961888"/>
            <a:ext cx="10332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222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7/20 eval score is reported as-is, not tuned to look better. Failures cluster in auto-generated questions with retrieval gaps — the hand-written adversarial cases (bias probes, injection attempts) mostly passed. A low score with clean guardrails is a more useful signal than a suspiciously perfect one.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41B4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22960" y="731520"/>
            <a:ext cx="548640" cy="548640"/>
          </a:xfrm>
          <a:prstGeom prst="ellipse">
            <a:avLst/>
          </a:prstGeom>
          <a:solidFill>
            <a:srgbClr val="DA7756"/>
          </a:solidFill>
          <a:ln/>
        </p:spPr>
      </p:sp>
      <p:sp>
        <p:nvSpPr>
          <p:cNvPr id="3" name="Text 1"/>
          <p:cNvSpPr/>
          <p:nvPr/>
        </p:nvSpPr>
        <p:spPr>
          <a:xfrm>
            <a:off x="822960" y="73152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822960" y="2377440"/>
            <a:ext cx="10058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</a:t>
            </a:r>
            <a:endParaRPr lang="en-US" sz="4400" dirty="0"/>
          </a:p>
        </p:txBody>
      </p:sp>
      <p:sp>
        <p:nvSpPr>
          <p:cNvPr id="5" name="Text 3"/>
          <p:cNvSpPr/>
          <p:nvPr/>
        </p:nvSpPr>
        <p:spPr>
          <a:xfrm>
            <a:off x="822960" y="3291840"/>
            <a:ext cx="10058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WealthPilot — all 8 milestones, built and independently verified.</a:t>
            </a:r>
            <a:endParaRPr lang="en-US" sz="1700" dirty="0"/>
          </a:p>
        </p:txBody>
      </p:sp>
      <p:sp>
        <p:nvSpPr>
          <p:cNvPr id="6" name="Shape 4"/>
          <p:cNvSpPr/>
          <p:nvPr/>
        </p:nvSpPr>
        <p:spPr>
          <a:xfrm>
            <a:off x="822960" y="4206240"/>
            <a:ext cx="5669280" cy="640080"/>
          </a:xfrm>
          <a:prstGeom prst="roundRect">
            <a:avLst>
              <a:gd name="adj" fmla="val 14286"/>
            </a:avLst>
          </a:prstGeom>
          <a:solidFill>
            <a:srgbClr val="263073"/>
          </a:solidFill>
          <a:ln/>
        </p:spPr>
      </p:sp>
      <p:sp>
        <p:nvSpPr>
          <p:cNvPr id="7" name="Text 5"/>
          <p:cNvSpPr/>
          <p:nvPr/>
        </p:nvSpPr>
        <p:spPr>
          <a:xfrm>
            <a:off x="1005840" y="4206240"/>
            <a:ext cx="5303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DA77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github.com/abhi-1006/wealthpilot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822960" y="5852160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AA4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Questions?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2026-08-20T06:08:05Z</dcterms:created>
  <dcterms:modified xsi:type="dcterms:W3CDTF">2026-08-20T06:08:05Z</dcterms:modified>
</cp:coreProperties>
</file>